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odec Pro" panose="020B0604020202020204" charset="0"/>
      <p:regular r:id="rId9"/>
    </p:embeddedFont>
    <p:embeddedFont>
      <p:font typeface="Codec Pro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8080"/>
    <a:srgbClr val="B35900"/>
    <a:srgbClr val="1A52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ukha Rao H" userId="c95b469740ad5134" providerId="LiveId" clId="{9D18F216-72A1-4F31-8898-AD75A96652A0}"/>
    <pc:docChg chg="undo custSel modSld">
      <pc:chgData name="Sumukha Rao H" userId="c95b469740ad5134" providerId="LiveId" clId="{9D18F216-72A1-4F31-8898-AD75A96652A0}" dt="2026-04-29T04:06:43.059" v="19" actId="2711"/>
      <pc:docMkLst>
        <pc:docMk/>
      </pc:docMkLst>
      <pc:sldChg chg="modSp mod">
        <pc:chgData name="Sumukha Rao H" userId="c95b469740ad5134" providerId="LiveId" clId="{9D18F216-72A1-4F31-8898-AD75A96652A0}" dt="2026-04-29T04:04:55.413" v="6" actId="255"/>
        <pc:sldMkLst>
          <pc:docMk/>
          <pc:sldMk cId="0" sldId="257"/>
        </pc:sldMkLst>
        <pc:spChg chg="mod">
          <ac:chgData name="Sumukha Rao H" userId="c95b469740ad5134" providerId="LiveId" clId="{9D18F216-72A1-4F31-8898-AD75A96652A0}" dt="2026-04-29T04:04:55.413" v="6" actId="255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Sumukha Rao H" userId="c95b469740ad5134" providerId="LiveId" clId="{9D18F216-72A1-4F31-8898-AD75A96652A0}" dt="2026-04-29T04:06:43.059" v="19" actId="2711"/>
        <pc:sldMkLst>
          <pc:docMk/>
          <pc:sldMk cId="0" sldId="258"/>
        </pc:sldMkLst>
        <pc:spChg chg="mod">
          <ac:chgData name="Sumukha Rao H" userId="c95b469740ad5134" providerId="LiveId" clId="{9D18F216-72A1-4F31-8898-AD75A96652A0}" dt="2026-04-29T04:06:43.059" v="19" actId="2711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Sumukha Rao H" userId="c95b469740ad5134" providerId="LiveId" clId="{9D18F216-72A1-4F31-8898-AD75A96652A0}" dt="2026-04-29T04:05:19.073" v="8" actId="2711"/>
        <pc:sldMkLst>
          <pc:docMk/>
          <pc:sldMk cId="0" sldId="259"/>
        </pc:sldMkLst>
        <pc:spChg chg="mod">
          <ac:chgData name="Sumukha Rao H" userId="c95b469740ad5134" providerId="LiveId" clId="{9D18F216-72A1-4F31-8898-AD75A96652A0}" dt="2026-04-29T04:05:19.073" v="8" actId="2711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Sumukha Rao H" userId="c95b469740ad5134" providerId="LiveId" clId="{9D18F216-72A1-4F31-8898-AD75A96652A0}" dt="2026-04-29T04:04:09.373" v="1" actId="2711"/>
        <pc:sldMkLst>
          <pc:docMk/>
          <pc:sldMk cId="0" sldId="260"/>
        </pc:sldMkLst>
        <pc:spChg chg="mod">
          <ac:chgData name="Sumukha Rao H" userId="c95b469740ad5134" providerId="LiveId" clId="{9D18F216-72A1-4F31-8898-AD75A96652A0}" dt="2026-04-29T04:04:09.373" v="1" actId="2711"/>
          <ac:spMkLst>
            <pc:docMk/>
            <pc:sldMk cId="0" sldId="260"/>
            <ac:spMk id="6" creationId="{EC90F241-B3AA-4C6F-355E-22737F4CC44D}"/>
          </ac:spMkLst>
        </pc:spChg>
        <pc:spChg chg="mod">
          <ac:chgData name="Sumukha Rao H" userId="c95b469740ad5134" providerId="LiveId" clId="{9D18F216-72A1-4F31-8898-AD75A96652A0}" dt="2026-04-29T04:04:09.373" v="1" actId="2711"/>
          <ac:spMkLst>
            <pc:docMk/>
            <pc:sldMk cId="0" sldId="260"/>
            <ac:spMk id="8" creationId="{03736E11-0C69-9CA0-1670-B355B24DD26A}"/>
          </ac:spMkLst>
        </pc:spChg>
        <pc:spChg chg="mod">
          <ac:chgData name="Sumukha Rao H" userId="c95b469740ad5134" providerId="LiveId" clId="{9D18F216-72A1-4F31-8898-AD75A96652A0}" dt="2026-04-29T04:04:09.373" v="1" actId="2711"/>
          <ac:spMkLst>
            <pc:docMk/>
            <pc:sldMk cId="0" sldId="260"/>
            <ac:spMk id="11" creationId="{C6D68C14-1E37-B6D2-C610-9AB804F25C80}"/>
          </ac:spMkLst>
        </pc:spChg>
        <pc:spChg chg="mod">
          <ac:chgData name="Sumukha Rao H" userId="c95b469740ad5134" providerId="LiveId" clId="{9D18F216-72A1-4F31-8898-AD75A96652A0}" dt="2026-04-29T04:04:09.373" v="1" actId="2711"/>
          <ac:spMkLst>
            <pc:docMk/>
            <pc:sldMk cId="0" sldId="260"/>
            <ac:spMk id="15" creationId="{84D0E3C8-73AA-BAF3-4BE5-D5CDD6146E93}"/>
          </ac:spMkLst>
        </pc:spChg>
        <pc:spChg chg="mod">
          <ac:chgData name="Sumukha Rao H" userId="c95b469740ad5134" providerId="LiveId" clId="{9D18F216-72A1-4F31-8898-AD75A96652A0}" dt="2026-04-29T04:04:09.373" v="1" actId="2711"/>
          <ac:spMkLst>
            <pc:docMk/>
            <pc:sldMk cId="0" sldId="260"/>
            <ac:spMk id="115" creationId="{99F6A2E8-8B33-D94A-FDE0-95707BC42EB8}"/>
          </ac:spMkLst>
        </pc:spChg>
        <pc:spChg chg="mod">
          <ac:chgData name="Sumukha Rao H" userId="c95b469740ad5134" providerId="LiveId" clId="{9D18F216-72A1-4F31-8898-AD75A96652A0}" dt="2026-04-29T04:04:09.373" v="1" actId="2711"/>
          <ac:spMkLst>
            <pc:docMk/>
            <pc:sldMk cId="0" sldId="260"/>
            <ac:spMk id="125" creationId="{CB55C024-D623-1147-666C-47467934229E}"/>
          </ac:spMkLst>
        </pc:spChg>
        <pc:spChg chg="mod">
          <ac:chgData name="Sumukha Rao H" userId="c95b469740ad5134" providerId="LiveId" clId="{9D18F216-72A1-4F31-8898-AD75A96652A0}" dt="2026-04-29T04:04:09.373" v="1" actId="2711"/>
          <ac:spMkLst>
            <pc:docMk/>
            <pc:sldMk cId="0" sldId="260"/>
            <ac:spMk id="135" creationId="{0C9908BC-51A7-B2CE-1A45-79A443F0D405}"/>
          </ac:spMkLst>
        </pc:spChg>
        <pc:spChg chg="mod">
          <ac:chgData name="Sumukha Rao H" userId="c95b469740ad5134" providerId="LiveId" clId="{9D18F216-72A1-4F31-8898-AD75A96652A0}" dt="2026-04-29T04:04:09.373" v="1" actId="2711"/>
          <ac:spMkLst>
            <pc:docMk/>
            <pc:sldMk cId="0" sldId="260"/>
            <ac:spMk id="155" creationId="{2DE1996C-E368-644C-2109-5010DE49A851}"/>
          </ac:spMkLst>
        </pc:spChg>
        <pc:spChg chg="mod">
          <ac:chgData name="Sumukha Rao H" userId="c95b469740ad5134" providerId="LiveId" clId="{9D18F216-72A1-4F31-8898-AD75A96652A0}" dt="2026-04-29T04:04:09.373" v="1" actId="2711"/>
          <ac:spMkLst>
            <pc:docMk/>
            <pc:sldMk cId="0" sldId="260"/>
            <ac:spMk id="173" creationId="{670D8301-83CE-B68D-9C11-B22F3DD202B1}"/>
          </ac:spMkLst>
        </pc:spChg>
        <pc:spChg chg="mod">
          <ac:chgData name="Sumukha Rao H" userId="c95b469740ad5134" providerId="LiveId" clId="{9D18F216-72A1-4F31-8898-AD75A96652A0}" dt="2026-04-29T04:04:09.373" v="1" actId="2711"/>
          <ac:spMkLst>
            <pc:docMk/>
            <pc:sldMk cId="0" sldId="260"/>
            <ac:spMk id="180" creationId="{F391916D-BB3B-49CE-94E8-117902C705BC}"/>
          </ac:spMkLst>
        </pc:spChg>
      </pc:sldChg>
      <pc:sldChg chg="modSp mod">
        <pc:chgData name="Sumukha Rao H" userId="c95b469740ad5134" providerId="LiveId" clId="{9D18F216-72A1-4F31-8898-AD75A96652A0}" dt="2026-04-29T04:06:26.246" v="17" actId="20577"/>
        <pc:sldMkLst>
          <pc:docMk/>
          <pc:sldMk cId="0" sldId="261"/>
        </pc:sldMkLst>
        <pc:spChg chg="mod">
          <ac:chgData name="Sumukha Rao H" userId="c95b469740ad5134" providerId="LiveId" clId="{9D18F216-72A1-4F31-8898-AD75A96652A0}" dt="2026-04-29T04:06:26.246" v="17" actId="20577"/>
          <ac:spMkLst>
            <pc:docMk/>
            <pc:sldMk cId="0" sldId="261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2897" y="9525000"/>
            <a:ext cx="16230600" cy="0"/>
          </a:xfrm>
          <a:prstGeom prst="line">
            <a:avLst/>
          </a:prstGeom>
          <a:ln w="19050" cap="flat">
            <a:solidFill>
              <a:srgbClr val="007B8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3766478" cy="1767347"/>
          </a:xfrm>
          <a:custGeom>
            <a:avLst/>
            <a:gdLst/>
            <a:ahLst/>
            <a:cxnLst/>
            <a:rect l="l" t="t" r="r" b="b"/>
            <a:pathLst>
              <a:path w="3766478" h="1767347">
                <a:moveTo>
                  <a:pt x="0" y="0"/>
                </a:moveTo>
                <a:lnTo>
                  <a:pt x="3766478" y="0"/>
                </a:lnTo>
                <a:lnTo>
                  <a:pt x="3766478" y="1767347"/>
                </a:lnTo>
                <a:lnTo>
                  <a:pt x="0" y="17673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2897" y="2484702"/>
            <a:ext cx="16916403" cy="3338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81"/>
              </a:lnSpc>
              <a:spcBef>
                <a:spcPct val="0"/>
              </a:spcBef>
            </a:pPr>
            <a:r>
              <a:rPr lang="en-US" sz="9200" b="1" dirty="0">
                <a:solidFill>
                  <a:srgbClr val="007B8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Log Importance Scoring and cross-signal correlation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2897" y="6386484"/>
            <a:ext cx="6093161" cy="3726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9"/>
              </a:lnSpc>
            </a:pPr>
            <a:r>
              <a:rPr lang="en-US" sz="2577" dirty="0">
                <a:solidFill>
                  <a:srgbClr val="007B80"/>
                </a:solidFill>
                <a:latin typeface="Codec Pro"/>
                <a:ea typeface="Codec Pro"/>
                <a:cs typeface="Codec Pro"/>
                <a:sym typeface="Codec Pro"/>
              </a:rPr>
              <a:t>Presented by ,</a:t>
            </a:r>
          </a:p>
          <a:p>
            <a:pPr algn="just">
              <a:lnSpc>
                <a:spcPts val="3609"/>
              </a:lnSpc>
            </a:pPr>
            <a:r>
              <a:rPr lang="en-US" sz="2577" dirty="0">
                <a:solidFill>
                  <a:srgbClr val="007B80"/>
                </a:solidFill>
                <a:latin typeface="Codec Pro"/>
                <a:ea typeface="Codec Pro"/>
                <a:cs typeface="Codec Pro"/>
                <a:sym typeface="Codec Pro"/>
              </a:rPr>
              <a:t>Sumukha Rao H</a:t>
            </a:r>
          </a:p>
          <a:p>
            <a:pPr algn="just">
              <a:lnSpc>
                <a:spcPts val="3609"/>
              </a:lnSpc>
            </a:pPr>
            <a:r>
              <a:rPr lang="en-US" sz="2577" dirty="0" err="1">
                <a:solidFill>
                  <a:srgbClr val="007B80"/>
                </a:solidFill>
                <a:latin typeface="Codec Pro"/>
                <a:ea typeface="Codec Pro"/>
                <a:cs typeface="Codec Pro"/>
                <a:sym typeface="Codec Pro"/>
              </a:rPr>
              <a:t>Shreeraksha</a:t>
            </a:r>
            <a:r>
              <a:rPr lang="en-US" sz="2577" dirty="0">
                <a:solidFill>
                  <a:srgbClr val="007B80"/>
                </a:solidFill>
                <a:latin typeface="Codec Pro"/>
                <a:ea typeface="Codec Pro"/>
                <a:cs typeface="Codec Pro"/>
                <a:sym typeface="Codec Pro"/>
              </a:rPr>
              <a:t> M</a:t>
            </a:r>
          </a:p>
          <a:p>
            <a:pPr algn="just">
              <a:lnSpc>
                <a:spcPts val="3609"/>
              </a:lnSpc>
            </a:pPr>
            <a:r>
              <a:rPr lang="en-US" sz="2577" dirty="0">
                <a:solidFill>
                  <a:srgbClr val="007B80"/>
                </a:solidFill>
                <a:latin typeface="Codec Pro"/>
                <a:ea typeface="Codec Pro"/>
                <a:cs typeface="Codec Pro"/>
                <a:sym typeface="Codec Pro"/>
              </a:rPr>
              <a:t>Ujwal Hegde</a:t>
            </a:r>
          </a:p>
          <a:p>
            <a:pPr algn="just">
              <a:lnSpc>
                <a:spcPts val="3609"/>
              </a:lnSpc>
            </a:pPr>
            <a:r>
              <a:rPr lang="en-US" sz="2577" dirty="0">
                <a:solidFill>
                  <a:srgbClr val="007B80"/>
                </a:solidFill>
                <a:latin typeface="Codec Pro"/>
                <a:ea typeface="Codec Pro"/>
                <a:cs typeface="Codec Pro"/>
                <a:sym typeface="Codec Pro"/>
              </a:rPr>
              <a:t>Sharva Dhanvi V</a:t>
            </a:r>
          </a:p>
          <a:p>
            <a:pPr algn="just">
              <a:lnSpc>
                <a:spcPts val="3609"/>
              </a:lnSpc>
            </a:pPr>
            <a:r>
              <a:rPr lang="en-US" sz="2577" dirty="0" err="1">
                <a:solidFill>
                  <a:srgbClr val="007B80"/>
                </a:solidFill>
                <a:latin typeface="Codec Pro"/>
                <a:ea typeface="Codec Pro"/>
                <a:cs typeface="Codec Pro"/>
                <a:sym typeface="Codec Pro"/>
              </a:rPr>
              <a:t>Vishon</a:t>
            </a:r>
            <a:r>
              <a:rPr lang="en-US" sz="2577" dirty="0">
                <a:solidFill>
                  <a:srgbClr val="007B80"/>
                </a:solidFill>
                <a:latin typeface="Codec Pro"/>
                <a:ea typeface="Codec Pro"/>
                <a:cs typeface="Codec Pro"/>
                <a:sym typeface="Codec Pro"/>
              </a:rPr>
              <a:t> Dsouza</a:t>
            </a:r>
          </a:p>
          <a:p>
            <a:pPr algn="just">
              <a:lnSpc>
                <a:spcPts val="3609"/>
              </a:lnSpc>
            </a:pPr>
            <a:endParaRPr lang="en-US" sz="2577" dirty="0">
              <a:solidFill>
                <a:srgbClr val="007B8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just">
              <a:lnSpc>
                <a:spcPts val="4164"/>
              </a:lnSpc>
              <a:spcBef>
                <a:spcPct val="0"/>
              </a:spcBef>
            </a:pPr>
            <a:endParaRPr lang="en-US" sz="2577" dirty="0">
              <a:solidFill>
                <a:srgbClr val="007B8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316820" y="7673974"/>
            <a:ext cx="1942480" cy="185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6F00"/>
                </a:solidFill>
                <a:latin typeface="Codec Pro"/>
                <a:ea typeface="Codec Pro"/>
                <a:cs typeface="Codec Pro"/>
                <a:sym typeface="Codec Pro"/>
              </a:rPr>
              <a:t>01/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38238" y="7673974"/>
            <a:ext cx="2221062" cy="185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6F00"/>
                </a:solidFill>
                <a:latin typeface="Codec Pro"/>
                <a:ea typeface="Codec Pro"/>
                <a:cs typeface="Codec Pro"/>
                <a:sym typeface="Codec Pro"/>
              </a:rPr>
              <a:t>02/</a:t>
            </a:r>
          </a:p>
        </p:txBody>
      </p:sp>
      <p:sp>
        <p:nvSpPr>
          <p:cNvPr id="3" name="AutoShape 3"/>
          <p:cNvSpPr/>
          <p:nvPr/>
        </p:nvSpPr>
        <p:spPr>
          <a:xfrm>
            <a:off x="1028700" y="9525000"/>
            <a:ext cx="16230600" cy="0"/>
          </a:xfrm>
          <a:prstGeom prst="line">
            <a:avLst/>
          </a:prstGeom>
          <a:ln w="19050" cap="flat">
            <a:solidFill>
              <a:srgbClr val="007B8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819150"/>
            <a:ext cx="8405570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7B8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920922"/>
            <a:ext cx="16230600" cy="7346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600" dirty="0"/>
              <a:t>Network systems generate an overwhelming volume of logs continuously, most of which are low-value noise. This makes it difficult to quickly identify critical events, especially since logs are not well correlated with other system signals. As a result, root cause analysis and troubleshooting become slower and less efficient.</a:t>
            </a:r>
          </a:p>
          <a:p>
            <a:pPr>
              <a:lnSpc>
                <a:spcPts val="4759"/>
              </a:lnSpc>
              <a:spcBef>
                <a:spcPct val="0"/>
              </a:spcBef>
            </a:pPr>
            <a:endParaRPr lang="en-US" sz="3399" b="1" dirty="0">
              <a:solidFill>
                <a:srgbClr val="00000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+mj-lt"/>
                <a:ea typeface="Codec Pro Bold"/>
                <a:cs typeface="Codec Pro Bold"/>
                <a:sym typeface="Codec Pro Bold"/>
              </a:rPr>
              <a:t>Challenges</a:t>
            </a:r>
            <a:r>
              <a:rPr lang="en-US" sz="4000" dirty="0">
                <a:solidFill>
                  <a:srgbClr val="000000"/>
                </a:solidFill>
                <a:latin typeface="+mj-lt"/>
                <a:ea typeface="Codec Pro"/>
                <a:cs typeface="Codec Pro"/>
                <a:sym typeface="Codec Pro"/>
              </a:rPr>
              <a:t>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Log Overload in Network Systems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Massive volume of logs generated continuously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Majority of logs are irrelevant / low-value noise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Difficult to identify critical events quickly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Lack of correlation across logs and system signals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Slows down root cause analysis and troubleshooting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525000"/>
            <a:ext cx="16230600" cy="0"/>
          </a:xfrm>
          <a:prstGeom prst="line">
            <a:avLst/>
          </a:prstGeom>
          <a:ln w="19050" cap="flat">
            <a:solidFill>
              <a:srgbClr val="007B8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5038238" y="7673974"/>
            <a:ext cx="2221062" cy="185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6F00"/>
                </a:solidFill>
                <a:latin typeface="Codec Pro"/>
                <a:ea typeface="Codec Pro"/>
                <a:cs typeface="Codec Pro"/>
                <a:sym typeface="Codec Pro"/>
              </a:rPr>
              <a:t>03/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19150"/>
            <a:ext cx="7133929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07B8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Our Understanding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045334"/>
            <a:ext cx="16230600" cy="3037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Large volumes of logs make it difficult to distinguish useful information from noise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Individual logs do not provide enough context for meaningful analysis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Importance of a log depends on patterns, frequency, and its relation to system behavior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The focus is on identifying critical logs and understanding the underlying root cause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endParaRPr lang="en-US" sz="3399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19150"/>
            <a:ext cx="10244958" cy="1008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7B8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How Are We Solving It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038238" y="7673974"/>
            <a:ext cx="2221062" cy="185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6F00"/>
                </a:solidFill>
                <a:latin typeface="Codec Pro"/>
                <a:ea typeface="Codec Pro"/>
                <a:cs typeface="Codec Pro"/>
                <a:sym typeface="Codec Pro"/>
              </a:rPr>
              <a:t>04/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9525000"/>
            <a:ext cx="16230600" cy="0"/>
          </a:xfrm>
          <a:prstGeom prst="line">
            <a:avLst/>
          </a:prstGeom>
          <a:ln w="19050" cap="flat">
            <a:solidFill>
              <a:srgbClr val="007B8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028700" y="2076051"/>
            <a:ext cx="16230600" cy="3653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Logs are ingested, parsed, and converted into a structured format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Features are extracted based on patterns, frequency, and temporal behavior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Anomaly detection is applied using statistical methods and machine learning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Correlation is performed to identify relationships between logs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A scoring mechanism ranks logs based on their importance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5038238" y="316664"/>
            <a:ext cx="2221062" cy="185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999"/>
              </a:lnSpc>
              <a:spcBef>
                <a:spcPct val="0"/>
              </a:spcBef>
            </a:pPr>
            <a:r>
              <a:rPr lang="en-US" sz="9999" dirty="0">
                <a:solidFill>
                  <a:srgbClr val="FF6F00"/>
                </a:solidFill>
                <a:latin typeface="Codec Pro"/>
                <a:ea typeface="Codec Pro"/>
                <a:cs typeface="Codec Pro"/>
                <a:sym typeface="Codec Pro"/>
              </a:rPr>
              <a:t>05/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737840"/>
            <a:ext cx="12192616" cy="1008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7B8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Architecture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9525000"/>
            <a:ext cx="16230600" cy="0"/>
          </a:xfrm>
          <a:prstGeom prst="line">
            <a:avLst/>
          </a:prstGeom>
          <a:ln w="19050" cap="flat">
            <a:solidFill>
              <a:srgbClr val="007B8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0F241-B3AA-4C6F-355E-22737F4CC44D}"/>
              </a:ext>
            </a:extLst>
          </p:cNvPr>
          <p:cNvSpPr/>
          <p:nvPr/>
        </p:nvSpPr>
        <p:spPr>
          <a:xfrm>
            <a:off x="6012873" y="1858326"/>
            <a:ext cx="5715000" cy="451536"/>
          </a:xfrm>
          <a:prstGeom prst="rect">
            <a:avLst/>
          </a:prstGeom>
          <a:solidFill>
            <a:srgbClr val="0D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Log Sources</a:t>
            </a:r>
            <a:endParaRPr lang="en-IN" sz="24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736E11-0C69-9CA0-1670-B355B24DD26A}"/>
              </a:ext>
            </a:extLst>
          </p:cNvPr>
          <p:cNvSpPr/>
          <p:nvPr/>
        </p:nvSpPr>
        <p:spPr>
          <a:xfrm>
            <a:off x="6019800" y="2472186"/>
            <a:ext cx="5715000" cy="451536"/>
          </a:xfrm>
          <a:prstGeom prst="rect">
            <a:avLst/>
          </a:prstGeom>
          <a:solidFill>
            <a:srgbClr val="0D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Log Ingestion Layer</a:t>
            </a:r>
            <a:endParaRPr lang="en-IN" sz="2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8941B8-FEDF-1134-4013-006C3759660F}"/>
              </a:ext>
            </a:extLst>
          </p:cNvPr>
          <p:cNvSpPr/>
          <p:nvPr/>
        </p:nvSpPr>
        <p:spPr>
          <a:xfrm>
            <a:off x="6012873" y="3079220"/>
            <a:ext cx="5715000" cy="451536"/>
          </a:xfrm>
          <a:prstGeom prst="rect">
            <a:avLst/>
          </a:prstGeom>
          <a:solidFill>
            <a:srgbClr val="0D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Parsing &amp; Normalization Layer</a:t>
            </a:r>
            <a:endParaRPr lang="en-IN" sz="2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365D85-6618-2475-A275-85D40C7D32F0}"/>
              </a:ext>
            </a:extLst>
          </p:cNvPr>
          <p:cNvSpPr/>
          <p:nvPr/>
        </p:nvSpPr>
        <p:spPr>
          <a:xfrm>
            <a:off x="6019800" y="3699907"/>
            <a:ext cx="5715000" cy="451536"/>
          </a:xfrm>
          <a:prstGeom prst="rect">
            <a:avLst/>
          </a:prstGeom>
          <a:solidFill>
            <a:srgbClr val="0D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Sessionization</a:t>
            </a:r>
            <a:r>
              <a:rPr lang="en-US" sz="2400" b="1" dirty="0"/>
              <a:t> Layer</a:t>
            </a:r>
            <a:endParaRPr lang="en-IN" sz="24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D68C14-1E37-B6D2-C610-9AB804F25C80}"/>
              </a:ext>
            </a:extLst>
          </p:cNvPr>
          <p:cNvSpPr/>
          <p:nvPr/>
        </p:nvSpPr>
        <p:spPr>
          <a:xfrm>
            <a:off x="6019800" y="4326511"/>
            <a:ext cx="5715000" cy="451536"/>
          </a:xfrm>
          <a:prstGeom prst="rect">
            <a:avLst/>
          </a:prstGeom>
          <a:solidFill>
            <a:srgbClr val="0D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Selective Template Extraction</a:t>
            </a:r>
            <a:endParaRPr lang="en-IN" sz="2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56E839-6129-25F2-7763-14F7355E9477}"/>
              </a:ext>
            </a:extLst>
          </p:cNvPr>
          <p:cNvSpPr/>
          <p:nvPr/>
        </p:nvSpPr>
        <p:spPr>
          <a:xfrm>
            <a:off x="6019800" y="4918174"/>
            <a:ext cx="5715000" cy="451536"/>
          </a:xfrm>
          <a:prstGeom prst="rect">
            <a:avLst/>
          </a:prstGeom>
          <a:solidFill>
            <a:srgbClr val="0D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Feature Computation Layer</a:t>
            </a:r>
            <a:endParaRPr lang="en-IN" sz="240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E4F947-5EB9-4387-21DE-B01626A18996}"/>
              </a:ext>
            </a:extLst>
          </p:cNvPr>
          <p:cNvSpPr/>
          <p:nvPr/>
        </p:nvSpPr>
        <p:spPr>
          <a:xfrm>
            <a:off x="6019800" y="5507586"/>
            <a:ext cx="5715000" cy="451536"/>
          </a:xfrm>
          <a:prstGeom prst="rect">
            <a:avLst/>
          </a:prstGeom>
          <a:solidFill>
            <a:srgbClr val="B35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ML Anomaly Detection Layer</a:t>
            </a:r>
            <a:endParaRPr lang="en-IN" sz="24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A0AEF2-C428-7589-85C7-FDB5A780BCAD}"/>
              </a:ext>
            </a:extLst>
          </p:cNvPr>
          <p:cNvSpPr/>
          <p:nvPr/>
        </p:nvSpPr>
        <p:spPr>
          <a:xfrm>
            <a:off x="6012873" y="6101501"/>
            <a:ext cx="5715000" cy="451536"/>
          </a:xfrm>
          <a:prstGeom prst="rect">
            <a:avLst/>
          </a:prstGeom>
          <a:solidFill>
            <a:srgbClr val="0D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Sequence &amp; Correlation Engine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D0E3C8-73AA-BAF3-4BE5-D5CDD6146E93}"/>
              </a:ext>
            </a:extLst>
          </p:cNvPr>
          <p:cNvSpPr/>
          <p:nvPr/>
        </p:nvSpPr>
        <p:spPr>
          <a:xfrm>
            <a:off x="6012873" y="6695416"/>
            <a:ext cx="5715000" cy="451536"/>
          </a:xfrm>
          <a:prstGeom prst="rect">
            <a:avLst/>
          </a:prstGeom>
          <a:solidFill>
            <a:srgbClr val="0D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Importance Scoring Engine</a:t>
            </a:r>
            <a:endParaRPr lang="en-IN" sz="24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A99FDB-86F6-6461-0F5A-619CF2AA5D90}"/>
              </a:ext>
            </a:extLst>
          </p:cNvPr>
          <p:cNvSpPr/>
          <p:nvPr/>
        </p:nvSpPr>
        <p:spPr>
          <a:xfrm>
            <a:off x="6019800" y="7323049"/>
            <a:ext cx="5715000" cy="451536"/>
          </a:xfrm>
          <a:prstGeom prst="rect">
            <a:avLst/>
          </a:prstGeom>
          <a:solidFill>
            <a:srgbClr val="0D8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Incident Clustering &amp; Root Cause Engine</a:t>
            </a:r>
            <a:endParaRPr lang="en-IN" sz="24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0FD65A-C629-8391-440C-F1F16EF4845A}"/>
              </a:ext>
            </a:extLst>
          </p:cNvPr>
          <p:cNvSpPr/>
          <p:nvPr/>
        </p:nvSpPr>
        <p:spPr>
          <a:xfrm>
            <a:off x="6019800" y="7940291"/>
            <a:ext cx="5715000" cy="451536"/>
          </a:xfrm>
          <a:prstGeom prst="rect">
            <a:avLst/>
          </a:prstGeom>
          <a:solidFill>
            <a:srgbClr val="1A52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Storage &amp; Query Layer</a:t>
            </a:r>
            <a:endParaRPr lang="en-IN" sz="24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61AD4C-2EC8-5863-D536-6221ED41454E}"/>
              </a:ext>
            </a:extLst>
          </p:cNvPr>
          <p:cNvSpPr/>
          <p:nvPr/>
        </p:nvSpPr>
        <p:spPr>
          <a:xfrm>
            <a:off x="6019800" y="8571369"/>
            <a:ext cx="5715000" cy="451536"/>
          </a:xfrm>
          <a:prstGeom prst="rect">
            <a:avLst/>
          </a:prstGeom>
          <a:solidFill>
            <a:srgbClr val="1A52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Visualization and Alerting Layer</a:t>
            </a:r>
            <a:endParaRPr lang="en-IN" sz="2400" b="1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8C9AD14-5234-5EEE-015C-5664F2BD178D}"/>
              </a:ext>
            </a:extLst>
          </p:cNvPr>
          <p:cNvCxnSpPr>
            <a:cxnSpLocks/>
          </p:cNvCxnSpPr>
          <p:nvPr/>
        </p:nvCxnSpPr>
        <p:spPr>
          <a:xfrm>
            <a:off x="8839200" y="2326097"/>
            <a:ext cx="0" cy="162324"/>
          </a:xfrm>
          <a:prstGeom prst="straightConnector1">
            <a:avLst/>
          </a:prstGeom>
          <a:ln w="47625" cap="sq">
            <a:solidFill>
              <a:srgbClr val="0D808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A774A89-498B-78D3-8355-C519D63B60CF}"/>
              </a:ext>
            </a:extLst>
          </p:cNvPr>
          <p:cNvCxnSpPr>
            <a:cxnSpLocks/>
          </p:cNvCxnSpPr>
          <p:nvPr/>
        </p:nvCxnSpPr>
        <p:spPr>
          <a:xfrm>
            <a:off x="8848725" y="2927104"/>
            <a:ext cx="0" cy="162324"/>
          </a:xfrm>
          <a:prstGeom prst="straightConnector1">
            <a:avLst/>
          </a:prstGeom>
          <a:ln w="47625" cap="sq">
            <a:solidFill>
              <a:srgbClr val="0D808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C279E9F-29AA-C5BC-52E3-04F7F4703E1E}"/>
              </a:ext>
            </a:extLst>
          </p:cNvPr>
          <p:cNvCxnSpPr>
            <a:cxnSpLocks/>
          </p:cNvCxnSpPr>
          <p:nvPr/>
        </p:nvCxnSpPr>
        <p:spPr>
          <a:xfrm>
            <a:off x="8848725" y="3540965"/>
            <a:ext cx="0" cy="162324"/>
          </a:xfrm>
          <a:prstGeom prst="straightConnector1">
            <a:avLst/>
          </a:prstGeom>
          <a:ln w="47625" cap="sq">
            <a:solidFill>
              <a:srgbClr val="0D808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3A62FE5-90A2-49E2-6717-65147343101F}"/>
              </a:ext>
            </a:extLst>
          </p:cNvPr>
          <p:cNvCxnSpPr>
            <a:cxnSpLocks/>
          </p:cNvCxnSpPr>
          <p:nvPr/>
        </p:nvCxnSpPr>
        <p:spPr>
          <a:xfrm>
            <a:off x="8848725" y="4167569"/>
            <a:ext cx="0" cy="162324"/>
          </a:xfrm>
          <a:prstGeom prst="straightConnector1">
            <a:avLst/>
          </a:prstGeom>
          <a:ln w="47625" cap="sq">
            <a:solidFill>
              <a:srgbClr val="0D808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1A10A45-09EE-DB6B-0418-7BDEECD8C69C}"/>
              </a:ext>
            </a:extLst>
          </p:cNvPr>
          <p:cNvCxnSpPr>
            <a:cxnSpLocks/>
          </p:cNvCxnSpPr>
          <p:nvPr/>
        </p:nvCxnSpPr>
        <p:spPr>
          <a:xfrm>
            <a:off x="8848725" y="4781429"/>
            <a:ext cx="0" cy="162324"/>
          </a:xfrm>
          <a:prstGeom prst="straightConnector1">
            <a:avLst/>
          </a:prstGeom>
          <a:ln w="47625" cap="sq">
            <a:solidFill>
              <a:srgbClr val="0D808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A8F5F3C-1C56-6A08-CC32-6D7CF15ADFC7}"/>
              </a:ext>
            </a:extLst>
          </p:cNvPr>
          <p:cNvCxnSpPr>
            <a:cxnSpLocks/>
          </p:cNvCxnSpPr>
          <p:nvPr/>
        </p:nvCxnSpPr>
        <p:spPr>
          <a:xfrm>
            <a:off x="8848725" y="5373092"/>
            <a:ext cx="0" cy="162324"/>
          </a:xfrm>
          <a:prstGeom prst="straightConnector1">
            <a:avLst/>
          </a:prstGeom>
          <a:ln w="47625" cap="sq">
            <a:solidFill>
              <a:srgbClr val="0D808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62DF6FB-0279-C37A-5583-B93EE184242E}"/>
              </a:ext>
            </a:extLst>
          </p:cNvPr>
          <p:cNvCxnSpPr>
            <a:cxnSpLocks/>
          </p:cNvCxnSpPr>
          <p:nvPr/>
        </p:nvCxnSpPr>
        <p:spPr>
          <a:xfrm>
            <a:off x="8848725" y="5959122"/>
            <a:ext cx="0" cy="162324"/>
          </a:xfrm>
          <a:prstGeom prst="straightConnector1">
            <a:avLst/>
          </a:prstGeom>
          <a:ln w="47625" cap="sq">
            <a:solidFill>
              <a:srgbClr val="B3590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0C3D6DF-C5DE-53AD-5A00-337DC0BFC6CC}"/>
              </a:ext>
            </a:extLst>
          </p:cNvPr>
          <p:cNvCxnSpPr>
            <a:cxnSpLocks/>
          </p:cNvCxnSpPr>
          <p:nvPr/>
        </p:nvCxnSpPr>
        <p:spPr>
          <a:xfrm>
            <a:off x="8848725" y="6556419"/>
            <a:ext cx="0" cy="162324"/>
          </a:xfrm>
          <a:prstGeom prst="straightConnector1">
            <a:avLst/>
          </a:prstGeom>
          <a:ln w="47625" cap="sq">
            <a:solidFill>
              <a:srgbClr val="0D808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86F65B8-7915-A91B-570F-9A337BA8BB87}"/>
              </a:ext>
            </a:extLst>
          </p:cNvPr>
          <p:cNvCxnSpPr>
            <a:cxnSpLocks/>
          </p:cNvCxnSpPr>
          <p:nvPr/>
        </p:nvCxnSpPr>
        <p:spPr>
          <a:xfrm>
            <a:off x="8848725" y="7164107"/>
            <a:ext cx="0" cy="162324"/>
          </a:xfrm>
          <a:prstGeom prst="straightConnector1">
            <a:avLst/>
          </a:prstGeom>
          <a:ln w="47625" cap="sq">
            <a:solidFill>
              <a:srgbClr val="0D808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BFF3E1F-FF46-E41D-3D60-9A410E6D145C}"/>
              </a:ext>
            </a:extLst>
          </p:cNvPr>
          <p:cNvCxnSpPr>
            <a:cxnSpLocks/>
          </p:cNvCxnSpPr>
          <p:nvPr/>
        </p:nvCxnSpPr>
        <p:spPr>
          <a:xfrm>
            <a:off x="8848725" y="7777967"/>
            <a:ext cx="0" cy="162324"/>
          </a:xfrm>
          <a:prstGeom prst="straightConnector1">
            <a:avLst/>
          </a:prstGeom>
          <a:ln w="47625" cap="sq">
            <a:solidFill>
              <a:srgbClr val="0D808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593D24F-B7A0-6AF2-3BBC-645B0DF39CC6}"/>
              </a:ext>
            </a:extLst>
          </p:cNvPr>
          <p:cNvCxnSpPr>
            <a:cxnSpLocks/>
          </p:cNvCxnSpPr>
          <p:nvPr/>
        </p:nvCxnSpPr>
        <p:spPr>
          <a:xfrm>
            <a:off x="8848725" y="8412427"/>
            <a:ext cx="0" cy="162324"/>
          </a:xfrm>
          <a:prstGeom prst="straightConnector1">
            <a:avLst/>
          </a:prstGeom>
          <a:ln w="47625" cap="sq">
            <a:solidFill>
              <a:srgbClr val="1A5276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F2241FC8-CC5D-81DA-678B-75A6DA74925A}"/>
              </a:ext>
            </a:extLst>
          </p:cNvPr>
          <p:cNvSpPr txBox="1"/>
          <p:nvPr/>
        </p:nvSpPr>
        <p:spPr>
          <a:xfrm>
            <a:off x="1028700" y="1760928"/>
            <a:ext cx="3082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 Devices, Applications, Servers and other log sources</a:t>
            </a:r>
            <a:endParaRPr lang="en-IN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061B8C3-C0C1-AA8E-0DF4-C8B52A4DCBBB}"/>
              </a:ext>
            </a:extLst>
          </p:cNvPr>
          <p:cNvCxnSpPr>
            <a:cxnSpLocks/>
            <a:stCxn id="10" idx="3"/>
            <a:endCxn id="78" idx="1"/>
          </p:cNvCxnSpPr>
          <p:nvPr/>
        </p:nvCxnSpPr>
        <p:spPr>
          <a:xfrm>
            <a:off x="11734800" y="3925675"/>
            <a:ext cx="1974274" cy="3559"/>
          </a:xfrm>
          <a:prstGeom prst="line">
            <a:avLst/>
          </a:prstGeom>
          <a:ln>
            <a:solidFill>
              <a:srgbClr val="0D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8CC5C46-7188-CB4D-5C24-3A4042DA4033}"/>
              </a:ext>
            </a:extLst>
          </p:cNvPr>
          <p:cNvSpPr txBox="1"/>
          <p:nvPr/>
        </p:nvSpPr>
        <p:spPr>
          <a:xfrm>
            <a:off x="13709074" y="3467569"/>
            <a:ext cx="32454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related logs into sessions based on </a:t>
            </a:r>
            <a:r>
              <a:rPr lang="en-US" dirty="0">
                <a:solidFill>
                  <a:srgbClr val="0D8080"/>
                </a:solidFill>
              </a:rPr>
              <a:t>time gaps</a:t>
            </a:r>
            <a:r>
              <a:rPr lang="en-US" dirty="0"/>
              <a:t> to provide contextual flow</a:t>
            </a:r>
            <a:endParaRPr lang="en-IN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53867CC-62A8-E7F3-E9F1-AAE6ED71A332}"/>
              </a:ext>
            </a:extLst>
          </p:cNvPr>
          <p:cNvSpPr txBox="1"/>
          <p:nvPr/>
        </p:nvSpPr>
        <p:spPr>
          <a:xfrm>
            <a:off x="13709074" y="4681835"/>
            <a:ext cx="304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Generates numerical and contextual features using </a:t>
            </a:r>
            <a:r>
              <a:rPr lang="en-US" dirty="0">
                <a:solidFill>
                  <a:srgbClr val="0D8080"/>
                </a:solidFill>
              </a:rPr>
              <a:t>NumPy</a:t>
            </a:r>
            <a:r>
              <a:rPr lang="en-US" dirty="0"/>
              <a:t> and </a:t>
            </a:r>
            <a:r>
              <a:rPr lang="en-US" dirty="0">
                <a:solidFill>
                  <a:srgbClr val="0D8080"/>
                </a:solidFill>
              </a:rPr>
              <a:t>Pandas</a:t>
            </a:r>
            <a:endParaRPr lang="en-IN" dirty="0">
              <a:solidFill>
                <a:srgbClr val="0D8080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3739E5B-80AE-2F6D-F8D2-D695347150EF}"/>
              </a:ext>
            </a:extLst>
          </p:cNvPr>
          <p:cNvCxnSpPr>
            <a:cxnSpLocks/>
            <a:stCxn id="12" idx="3"/>
            <a:endCxn id="81" idx="1"/>
          </p:cNvCxnSpPr>
          <p:nvPr/>
        </p:nvCxnSpPr>
        <p:spPr>
          <a:xfrm flipV="1">
            <a:off x="11734800" y="5143500"/>
            <a:ext cx="1974274" cy="442"/>
          </a:xfrm>
          <a:prstGeom prst="line">
            <a:avLst/>
          </a:prstGeom>
          <a:ln>
            <a:solidFill>
              <a:srgbClr val="0D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ED8FC10-BF08-90C1-951E-DCC61EFB61D5}"/>
              </a:ext>
            </a:extLst>
          </p:cNvPr>
          <p:cNvSpPr txBox="1"/>
          <p:nvPr/>
        </p:nvSpPr>
        <p:spPr>
          <a:xfrm>
            <a:off x="1011377" y="5269866"/>
            <a:ext cx="30999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Detects unusual log behavior using </a:t>
            </a:r>
            <a:r>
              <a:rPr lang="en-US" dirty="0">
                <a:solidFill>
                  <a:srgbClr val="B35900"/>
                </a:solidFill>
              </a:rPr>
              <a:t>Isolation Forest </a:t>
            </a:r>
            <a:r>
              <a:rPr lang="en-US" dirty="0"/>
              <a:t>and </a:t>
            </a:r>
            <a:r>
              <a:rPr lang="en-US" dirty="0">
                <a:solidFill>
                  <a:srgbClr val="B35900"/>
                </a:solidFill>
              </a:rPr>
              <a:t>Z-score</a:t>
            </a:r>
            <a:endParaRPr lang="en-IN" dirty="0">
              <a:solidFill>
                <a:srgbClr val="B35900"/>
              </a:solidFill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8C92BF6-19BF-13E5-BFC6-7345C2373B6A}"/>
              </a:ext>
            </a:extLst>
          </p:cNvPr>
          <p:cNvCxnSpPr>
            <a:cxnSpLocks/>
            <a:stCxn id="85" idx="3"/>
            <a:endCxn id="13" idx="1"/>
          </p:cNvCxnSpPr>
          <p:nvPr/>
        </p:nvCxnSpPr>
        <p:spPr>
          <a:xfrm>
            <a:off x="4111330" y="5731531"/>
            <a:ext cx="1908470" cy="1823"/>
          </a:xfrm>
          <a:prstGeom prst="line">
            <a:avLst/>
          </a:prstGeom>
          <a:ln>
            <a:solidFill>
              <a:srgbClr val="B35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093D03A-0BD8-D7B2-FF48-03CF99A7A579}"/>
              </a:ext>
            </a:extLst>
          </p:cNvPr>
          <p:cNvSpPr txBox="1"/>
          <p:nvPr/>
        </p:nvSpPr>
        <p:spPr>
          <a:xfrm>
            <a:off x="13709074" y="5862723"/>
            <a:ext cx="3047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Builds log relationships between logs using graph-based modelling (</a:t>
            </a:r>
            <a:r>
              <a:rPr lang="en-US" dirty="0" err="1">
                <a:solidFill>
                  <a:srgbClr val="0D8080"/>
                </a:solidFill>
              </a:rPr>
              <a:t>NetworkX</a:t>
            </a:r>
            <a:r>
              <a:rPr lang="en-US" dirty="0"/>
              <a:t>)</a:t>
            </a:r>
            <a:endParaRPr lang="en-IN" dirty="0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325CDA4-C639-135D-86EE-0B9E9E1751D2}"/>
              </a:ext>
            </a:extLst>
          </p:cNvPr>
          <p:cNvCxnSpPr>
            <a:cxnSpLocks/>
            <a:stCxn id="14" idx="3"/>
            <a:endCxn id="90" idx="1"/>
          </p:cNvCxnSpPr>
          <p:nvPr/>
        </p:nvCxnSpPr>
        <p:spPr>
          <a:xfrm flipV="1">
            <a:off x="11727873" y="6324388"/>
            <a:ext cx="1981201" cy="2881"/>
          </a:xfrm>
          <a:prstGeom prst="line">
            <a:avLst/>
          </a:prstGeom>
          <a:ln>
            <a:solidFill>
              <a:srgbClr val="0D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B1EE9CB0-ED9D-C122-2049-F0BB3CDA0825}"/>
              </a:ext>
            </a:extLst>
          </p:cNvPr>
          <p:cNvCxnSpPr>
            <a:cxnSpLocks/>
            <a:stCxn id="73" idx="3"/>
            <a:endCxn id="6" idx="1"/>
          </p:cNvCxnSpPr>
          <p:nvPr/>
        </p:nvCxnSpPr>
        <p:spPr>
          <a:xfrm>
            <a:off x="4111335" y="2084094"/>
            <a:ext cx="1901538" cy="0"/>
          </a:xfrm>
          <a:prstGeom prst="line">
            <a:avLst/>
          </a:prstGeom>
          <a:ln>
            <a:solidFill>
              <a:srgbClr val="0D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C92943E-8BB6-45AB-BF8B-CE8919E90F25}"/>
              </a:ext>
            </a:extLst>
          </p:cNvPr>
          <p:cNvCxnSpPr>
            <a:cxnSpLocks/>
            <a:stCxn id="8" idx="3"/>
            <a:endCxn id="115" idx="1"/>
          </p:cNvCxnSpPr>
          <p:nvPr/>
        </p:nvCxnSpPr>
        <p:spPr>
          <a:xfrm>
            <a:off x="11734800" y="2697954"/>
            <a:ext cx="2057402" cy="0"/>
          </a:xfrm>
          <a:prstGeom prst="line">
            <a:avLst/>
          </a:prstGeom>
          <a:ln>
            <a:solidFill>
              <a:srgbClr val="0D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99F6A2E8-8B33-D94A-FDE0-95707BC42EB8}"/>
              </a:ext>
            </a:extLst>
          </p:cNvPr>
          <p:cNvSpPr txBox="1"/>
          <p:nvPr/>
        </p:nvSpPr>
        <p:spPr>
          <a:xfrm>
            <a:off x="13792202" y="2097789"/>
            <a:ext cx="29648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Collects and loads raw logs from multiple sources while preserving order and sequence using </a:t>
            </a:r>
            <a:r>
              <a:rPr lang="en-US" dirty="0">
                <a:solidFill>
                  <a:srgbClr val="0D8080"/>
                </a:solidFill>
              </a:rPr>
              <a:t>fluent bit</a:t>
            </a:r>
            <a:endParaRPr lang="en-IN" dirty="0">
              <a:solidFill>
                <a:srgbClr val="0D8080"/>
              </a:solidFill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423F03C3-0E9C-7666-087B-97D59A7992E5}"/>
              </a:ext>
            </a:extLst>
          </p:cNvPr>
          <p:cNvCxnSpPr>
            <a:cxnSpLocks/>
            <a:stCxn id="16" idx="3"/>
            <a:endCxn id="125" idx="1"/>
          </p:cNvCxnSpPr>
          <p:nvPr/>
        </p:nvCxnSpPr>
        <p:spPr>
          <a:xfrm>
            <a:off x="11734800" y="7548817"/>
            <a:ext cx="1974263" cy="0"/>
          </a:xfrm>
          <a:prstGeom prst="line">
            <a:avLst/>
          </a:prstGeom>
          <a:ln>
            <a:solidFill>
              <a:srgbClr val="0D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CB55C024-D623-1147-666C-47467934229E}"/>
              </a:ext>
            </a:extLst>
          </p:cNvPr>
          <p:cNvSpPr txBox="1"/>
          <p:nvPr/>
        </p:nvSpPr>
        <p:spPr>
          <a:xfrm>
            <a:off x="13709063" y="6948652"/>
            <a:ext cx="304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Groups related logs into incidents and identifies likely root causes using </a:t>
            </a:r>
            <a:r>
              <a:rPr lang="en-US" dirty="0">
                <a:solidFill>
                  <a:srgbClr val="0D8080"/>
                </a:solidFill>
              </a:rPr>
              <a:t>DBSCAN</a:t>
            </a:r>
            <a:r>
              <a:rPr lang="en-US" dirty="0"/>
              <a:t> and </a:t>
            </a:r>
            <a:r>
              <a:rPr lang="en-US" dirty="0">
                <a:solidFill>
                  <a:srgbClr val="0D8080"/>
                </a:solidFill>
              </a:rPr>
              <a:t>Graph centrality</a:t>
            </a:r>
            <a:endParaRPr lang="en-IN" dirty="0">
              <a:solidFill>
                <a:srgbClr val="0D8080"/>
              </a:solidFill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A41AC41-5C69-C197-51D0-419682E86D69}"/>
              </a:ext>
            </a:extLst>
          </p:cNvPr>
          <p:cNvCxnSpPr>
            <a:cxnSpLocks/>
            <a:stCxn id="18" idx="3"/>
            <a:endCxn id="135" idx="1"/>
          </p:cNvCxnSpPr>
          <p:nvPr/>
        </p:nvCxnSpPr>
        <p:spPr>
          <a:xfrm flipV="1">
            <a:off x="11734800" y="8796823"/>
            <a:ext cx="1974272" cy="314"/>
          </a:xfrm>
          <a:prstGeom prst="line">
            <a:avLst/>
          </a:prstGeom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0C9908BC-51A7-B2CE-1A45-79A443F0D405}"/>
              </a:ext>
            </a:extLst>
          </p:cNvPr>
          <p:cNvSpPr txBox="1"/>
          <p:nvPr/>
        </p:nvSpPr>
        <p:spPr>
          <a:xfrm>
            <a:off x="13709072" y="8335158"/>
            <a:ext cx="30479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Presents insights, anomalies, and incidents using </a:t>
            </a:r>
            <a:r>
              <a:rPr lang="en-US" dirty="0">
                <a:solidFill>
                  <a:srgbClr val="1A5276"/>
                </a:solidFill>
              </a:rPr>
              <a:t>Grafana</a:t>
            </a:r>
            <a:r>
              <a:rPr lang="en-US" dirty="0"/>
              <a:t> and </a:t>
            </a:r>
            <a:r>
              <a:rPr lang="en-US" dirty="0">
                <a:solidFill>
                  <a:srgbClr val="1A5276"/>
                </a:solidFill>
              </a:rPr>
              <a:t>Kibana</a:t>
            </a:r>
            <a:endParaRPr lang="en-IN" dirty="0">
              <a:solidFill>
                <a:srgbClr val="1A5276"/>
              </a:solidFill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FC17EF1D-E4C9-F0FB-7422-98E4EA6FF63E}"/>
              </a:ext>
            </a:extLst>
          </p:cNvPr>
          <p:cNvCxnSpPr>
            <a:cxnSpLocks/>
            <a:stCxn id="155" idx="3"/>
            <a:endCxn id="9" idx="1"/>
          </p:cNvCxnSpPr>
          <p:nvPr/>
        </p:nvCxnSpPr>
        <p:spPr>
          <a:xfrm>
            <a:off x="4152032" y="3300554"/>
            <a:ext cx="1860841" cy="4434"/>
          </a:xfrm>
          <a:prstGeom prst="line">
            <a:avLst/>
          </a:prstGeom>
          <a:ln>
            <a:solidFill>
              <a:srgbClr val="0D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267119C6-8FA3-0356-A231-A32A3AB6E351}"/>
              </a:ext>
            </a:extLst>
          </p:cNvPr>
          <p:cNvCxnSpPr>
            <a:cxnSpLocks/>
            <a:stCxn id="173" idx="3"/>
            <a:endCxn id="11" idx="1"/>
          </p:cNvCxnSpPr>
          <p:nvPr/>
        </p:nvCxnSpPr>
        <p:spPr>
          <a:xfrm>
            <a:off x="4152032" y="4549863"/>
            <a:ext cx="1867768" cy="2416"/>
          </a:xfrm>
          <a:prstGeom prst="line">
            <a:avLst/>
          </a:prstGeom>
          <a:ln>
            <a:solidFill>
              <a:srgbClr val="0D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C66BCB0D-F83D-A03A-672A-1A0E47ACCCD4}"/>
              </a:ext>
            </a:extLst>
          </p:cNvPr>
          <p:cNvCxnSpPr>
            <a:cxnSpLocks/>
            <a:stCxn id="180" idx="3"/>
            <a:endCxn id="15" idx="1"/>
          </p:cNvCxnSpPr>
          <p:nvPr/>
        </p:nvCxnSpPr>
        <p:spPr>
          <a:xfrm>
            <a:off x="4111328" y="6914428"/>
            <a:ext cx="1901545" cy="6756"/>
          </a:xfrm>
          <a:prstGeom prst="line">
            <a:avLst/>
          </a:prstGeom>
          <a:ln>
            <a:solidFill>
              <a:srgbClr val="0D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43104980-593B-335B-7577-B13E6E2B5CAD}"/>
              </a:ext>
            </a:extLst>
          </p:cNvPr>
          <p:cNvCxnSpPr>
            <a:cxnSpLocks/>
            <a:stCxn id="188" idx="3"/>
            <a:endCxn id="17" idx="1"/>
          </p:cNvCxnSpPr>
          <p:nvPr/>
        </p:nvCxnSpPr>
        <p:spPr>
          <a:xfrm flipV="1">
            <a:off x="4111328" y="8166059"/>
            <a:ext cx="1908472" cy="5143"/>
          </a:xfrm>
          <a:prstGeom prst="line">
            <a:avLst/>
          </a:prstGeom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2DE1996C-E368-644C-2109-5010DE49A851}"/>
              </a:ext>
            </a:extLst>
          </p:cNvPr>
          <p:cNvSpPr txBox="1"/>
          <p:nvPr/>
        </p:nvSpPr>
        <p:spPr>
          <a:xfrm>
            <a:off x="1069397" y="2838889"/>
            <a:ext cx="30826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Converts unstructured logs into a structured format using </a:t>
            </a:r>
            <a:r>
              <a:rPr lang="en-US" dirty="0">
                <a:solidFill>
                  <a:srgbClr val="0D8080"/>
                </a:solidFill>
              </a:rPr>
              <a:t>regex</a:t>
            </a:r>
            <a:r>
              <a:rPr lang="en-US" dirty="0"/>
              <a:t> and </a:t>
            </a:r>
            <a:r>
              <a:rPr lang="en-US" dirty="0">
                <a:solidFill>
                  <a:srgbClr val="0D8080"/>
                </a:solidFill>
              </a:rPr>
              <a:t>parsing libraries</a:t>
            </a:r>
            <a:endParaRPr lang="en-IN" dirty="0">
              <a:solidFill>
                <a:srgbClr val="0D8080"/>
              </a:solidFill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670D8301-83CE-B68D-9C11-B22F3DD202B1}"/>
              </a:ext>
            </a:extLst>
          </p:cNvPr>
          <p:cNvSpPr txBox="1"/>
          <p:nvPr/>
        </p:nvSpPr>
        <p:spPr>
          <a:xfrm>
            <a:off x="1069397" y="4088198"/>
            <a:ext cx="30826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Extracts recurring log patterns to reduce redundancy using </a:t>
            </a:r>
            <a:r>
              <a:rPr lang="en-US" dirty="0">
                <a:solidFill>
                  <a:srgbClr val="0D8080"/>
                </a:solidFill>
              </a:rPr>
              <a:t>Drain</a:t>
            </a:r>
            <a:endParaRPr lang="en-IN" dirty="0">
              <a:solidFill>
                <a:srgbClr val="0D8080"/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391916D-BB3B-49CE-94E8-117902C705BC}"/>
              </a:ext>
            </a:extLst>
          </p:cNvPr>
          <p:cNvSpPr txBox="1"/>
          <p:nvPr/>
        </p:nvSpPr>
        <p:spPr>
          <a:xfrm>
            <a:off x="1028694" y="6452763"/>
            <a:ext cx="30826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Combines multiple signals to assign a relevance score to each log.</a:t>
            </a:r>
            <a:endParaRPr lang="en-IN" dirty="0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F99CABA7-54E3-BCDF-31FE-0FF21E2CEFD5}"/>
              </a:ext>
            </a:extLst>
          </p:cNvPr>
          <p:cNvSpPr txBox="1"/>
          <p:nvPr/>
        </p:nvSpPr>
        <p:spPr>
          <a:xfrm>
            <a:off x="1011377" y="7571037"/>
            <a:ext cx="30999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Stores logs, features, scores, and incidents for querying and analysis in </a:t>
            </a:r>
            <a:r>
              <a:rPr lang="en-US" dirty="0">
                <a:solidFill>
                  <a:srgbClr val="1A5276"/>
                </a:solidFill>
              </a:rPr>
              <a:t>PostgreSQL</a:t>
            </a:r>
            <a:r>
              <a:rPr lang="en-US" dirty="0"/>
              <a:t> and </a:t>
            </a:r>
            <a:r>
              <a:rPr lang="en-US" dirty="0">
                <a:solidFill>
                  <a:srgbClr val="1A5276"/>
                </a:solidFill>
              </a:rPr>
              <a:t>Elasticsearch</a:t>
            </a:r>
            <a:endParaRPr lang="en-IN" dirty="0">
              <a:solidFill>
                <a:srgbClr val="1A527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37840"/>
            <a:ext cx="15354300" cy="1008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7B8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Current Status and Next Steps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038238" y="7673974"/>
            <a:ext cx="2221062" cy="185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6F00"/>
                </a:solidFill>
                <a:latin typeface="Codec Pro"/>
                <a:ea typeface="Codec Pro"/>
                <a:cs typeface="Codec Pro"/>
                <a:sym typeface="Codec Pro"/>
              </a:rPr>
              <a:t>06/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292422"/>
            <a:ext cx="16230600" cy="9193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 dirty="0"/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u="sng" dirty="0">
                <a:solidFill>
                  <a:srgbClr val="000000"/>
                </a:solidFill>
                <a:latin typeface="+mj-lt"/>
                <a:ea typeface="Codec Pro Bold"/>
                <a:cs typeface="Codec Pro Bold"/>
                <a:sym typeface="Codec Pro Bold"/>
              </a:rPr>
              <a:t>Current Status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Log parsing and preprocessing completed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Rule-based scoring implemented and under validation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ML model (Isolation Forest) studied and design outlined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System design in review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Module level planning completed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u="sng" dirty="0">
                <a:solidFill>
                  <a:srgbClr val="000000"/>
                </a:solidFill>
                <a:latin typeface="+mj-lt"/>
                <a:ea typeface="Codec Pro Bold"/>
                <a:cs typeface="Codec Pro Bold"/>
                <a:sym typeface="Codec Pro Bold"/>
              </a:rPr>
              <a:t>Next Steps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Implement ML-based anomaly detection (Isolation Forest)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Build correlation mechanism across logs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Integrate ML and rule-based signals for final scoring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ea typeface="Codec Pro"/>
                <a:cs typeface="Codec Pro"/>
                <a:sym typeface="Codec Pro"/>
              </a:rPr>
              <a:t>Evaluate performance and refine results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ctr">
              <a:lnSpc>
                <a:spcPts val="4759"/>
              </a:lnSpc>
              <a:spcBef>
                <a:spcPct val="0"/>
              </a:spcBef>
            </a:pPr>
            <a:endParaRPr lang="en-US" sz="3399" dirty="0">
              <a:solidFill>
                <a:srgbClr val="00000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28700" y="9525000"/>
            <a:ext cx="16230600" cy="0"/>
          </a:xfrm>
          <a:prstGeom prst="line">
            <a:avLst/>
          </a:prstGeom>
          <a:ln w="19050" cap="flat">
            <a:solidFill>
              <a:srgbClr val="007B8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38238" y="7673974"/>
            <a:ext cx="2221062" cy="185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6F00"/>
                </a:solidFill>
                <a:latin typeface="Codec Pro"/>
                <a:ea typeface="Codec Pro"/>
                <a:cs typeface="Codec Pro"/>
                <a:sym typeface="Codec Pro"/>
              </a:rPr>
              <a:t>07/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50793" y="3494613"/>
            <a:ext cx="5415960" cy="2413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9"/>
              </a:lnSpc>
              <a:spcBef>
                <a:spcPct val="0"/>
              </a:spcBef>
            </a:pPr>
            <a:r>
              <a:rPr lang="en-US" sz="12999" b="1">
                <a:solidFill>
                  <a:srgbClr val="007B8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Thank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66753" y="3494613"/>
            <a:ext cx="3770454" cy="2413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9"/>
              </a:lnSpc>
              <a:spcBef>
                <a:spcPct val="0"/>
              </a:spcBef>
            </a:pPr>
            <a:r>
              <a:rPr lang="en-US" sz="12999" b="1">
                <a:solidFill>
                  <a:srgbClr val="007B8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You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3766478" cy="1767347"/>
          </a:xfrm>
          <a:custGeom>
            <a:avLst/>
            <a:gdLst/>
            <a:ahLst/>
            <a:cxnLst/>
            <a:rect l="l" t="t" r="r" b="b"/>
            <a:pathLst>
              <a:path w="3766478" h="1767347">
                <a:moveTo>
                  <a:pt x="0" y="0"/>
                </a:moveTo>
                <a:lnTo>
                  <a:pt x="3766478" y="0"/>
                </a:lnTo>
                <a:lnTo>
                  <a:pt x="3766478" y="1767347"/>
                </a:lnTo>
                <a:lnTo>
                  <a:pt x="0" y="17673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1028700" y="9525000"/>
            <a:ext cx="16230600" cy="0"/>
          </a:xfrm>
          <a:prstGeom prst="line">
            <a:avLst/>
          </a:prstGeom>
          <a:ln w="19050" cap="flat">
            <a:solidFill>
              <a:srgbClr val="007B8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496</Words>
  <Application>Microsoft Office PowerPoint</Application>
  <PresentationFormat>Custom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Codec Pro</vt:lpstr>
      <vt:lpstr>Calibri</vt:lpstr>
      <vt:lpstr>Arial</vt:lpstr>
      <vt:lpstr>Codec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HPE Purple Team Presentation draft</dc:title>
  <dc:creator>Sumukha Rao H</dc:creator>
  <cp:lastModifiedBy>Sumukha Rao H</cp:lastModifiedBy>
  <cp:revision>33</cp:revision>
  <dcterms:created xsi:type="dcterms:W3CDTF">2006-08-16T00:00:00Z</dcterms:created>
  <dcterms:modified xsi:type="dcterms:W3CDTF">2026-04-29T04:06:53Z</dcterms:modified>
  <dc:identifier>DAHHubcVhLg</dc:identifier>
</cp:coreProperties>
</file>